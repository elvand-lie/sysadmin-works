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73152" cy="2286000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A5A8"/>
                </a:solidFill>
                <a:latin typeface="Calibri"/>
              </a:defRPr>
            </a:pPr>
            <a:r>
              <a:t>Administrasi Sistem untuk Kebutuhan Internal Institusi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B9B9B"/>
                </a:solidFill>
                <a:latin typeface="Calibri"/>
              </a:defRPr>
            </a:pPr>
            <a:r>
              <a:t>Praktikum Pengelolaan Administrasi &amp; Teknologi Informasi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B9B9B"/>
                </a:solidFill>
                <a:latin typeface="Calibri"/>
              </a:defRPr>
            </a:pPr>
            <a:r>
              <a:t>Kelompok [Nomor] |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01    Studi Kasus &amp; Arsitektur Sistem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02    Boot &amp; Service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03    Manajemen Disk &amp; Partisi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71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04    Keamanan Data: Backup &amp; Recovery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05    Monitoring Sistem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06    Update &amp; Keamanan (Firewall)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07    Layanan Tambahan: Samba File Sharing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983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08    Masalah &amp; Solusi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09    Kesimpulan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Studi Kasus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A5A8"/>
                </a:solidFill>
                <a:latin typeface="Calibri"/>
              </a:defRPr>
            </a:pPr>
            <a:r>
              <a:t>Sebuah institusi membutuhkan mini server Linux untuk kebutuhan internal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103120"/>
            <a:ext cx="274320" cy="27432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83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93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Stabil saat boot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2606040"/>
            <a:ext cx="274320" cy="27432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586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596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Aman dari kegagalan disk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108960"/>
            <a:ext cx="274320" cy="27432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088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098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Dapat dimonitor performanya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3611880"/>
            <a:ext cx="274320" cy="27432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59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601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Selalu up-to-date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114800"/>
            <a:ext cx="274320" cy="27432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4094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10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Siap digunakan oleh banyak pengguna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49A2A"/>
                </a:solidFill>
                <a:latin typeface="Calibri"/>
              </a:defRPr>
            </a:pPr>
            <a:r>
              <a:t>Solusi: Konfigurasi manual terstruktur untuk administrasi yang presisi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Arsitektur Sistem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B7F"/>
                </a:solidFill>
                <a:latin typeface="Calibri"/>
              </a:defRPr>
            </a:pPr>
            <a:r>
              <a:t>Host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Windows 10/11 + SSH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B7F"/>
                </a:solidFill>
                <a:latin typeface="Calibri"/>
              </a:defRPr>
            </a:pPr>
            <a:r>
              <a:t>Hypervisor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Oracle VirtualBox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B7F"/>
                </a:solidFill>
                <a:latin typeface="Calibri"/>
              </a:defRPr>
            </a:pPr>
            <a:r>
              <a:t>Guest 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Ubuntu Server 24.04 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B7F"/>
                </a:solidFill>
                <a:latin typeface="Calibri"/>
              </a:defRPr>
            </a:pPr>
            <a:r>
              <a:t>Kernel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6.8.0-110-generic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B7F"/>
                </a:solidFill>
                <a:latin typeface="Calibri"/>
              </a:defRPr>
            </a:pPr>
            <a:r>
              <a:t>Boot Loader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566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GRUB 2.12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B7F"/>
                </a:solidFill>
                <a:latin typeface="Calibri"/>
              </a:defRPr>
            </a:pPr>
            <a:r>
              <a:t>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114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NAT + Host-Only (192.168.56.101)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B7F"/>
                </a:solidFill>
                <a:latin typeface="Calibri"/>
              </a:defRPr>
            </a:pPr>
            <a:r>
              <a:t>Disk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63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sda 20 GB (sistem)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B7F"/>
                </a:solidFill>
                <a:latin typeface="Calibri"/>
              </a:defRPr>
            </a:pPr>
            <a:r>
              <a:t>Disk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212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sdb 20 GB (data /data)</a:t>
            </a:r>
          </a:p>
        </p:txBody>
      </p:sp>
      <p:pic>
        <p:nvPicPr>
          <p:cNvPr id="23" name="Picture 22" descr="image 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389120" cy="27389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Boot &amp; Service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Boot Loader: GRUB 2.12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Kernel: Linux 6.8.0-110-generic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Service dinonaktifkan: multipathd (tidak diperlukan pada VM)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Custom service: hello-boot.service (log saat boot)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029200" cy="106479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hello-boot.service - enabled &amp; executed</a:t>
            </a:r>
          </a:p>
        </p:txBody>
      </p:sp>
      <p:pic>
        <p:nvPicPr>
          <p:cNvPr id="13" name="Picture 12" descr="image 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840480"/>
            <a:ext cx="5029200" cy="31383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0" y="6126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multipathd.service - disabled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Manajemen Disk &amp; Partisi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5A8"/>
                </a:solidFill>
                <a:latin typeface="Calibri"/>
              </a:defRPr>
            </a:pPr>
            <a:r>
              <a:t>Arsitektur 2-Disk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sda (20 GB) - Disk sistem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/boot (sda2) - 1.8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/ root (LVM) - 10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sdb (20 GB) - Disk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/data (sdb1, ext4) - 20 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754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097280" y="5212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Pemisahan untuk isolasi kegagalan</a:t>
            </a:r>
          </a:p>
        </p:txBody>
      </p:sp>
      <p:pic>
        <p:nvPicPr>
          <p:cNvPr id="16" name="Picture 15" descr="image copy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16363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Keamanan Data: Backup &amp; Recovery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5A8"/>
                </a:solidFill>
                <a:latin typeface="Calibri"/>
              </a:defRPr>
            </a:pPr>
            <a:r>
              <a:t>Mekanisme: rsync + cron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Backup otomatis: setiap hari jam 02:00 WIB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68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Cron: 0 2 * * * rsync -a /data/ /backup/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Simulasi Kegagalan: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1. Buat file via Samba dari Windows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2. Hapus file (sudo rm)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754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3. Restore: rsync -a /backup/ /data/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212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4. Verifikasi: data berhasil kembali</a:t>
            </a:r>
          </a:p>
        </p:txBody>
      </p:sp>
      <p:pic>
        <p:nvPicPr>
          <p:cNvPr id="16" name="Picture 15" descr="image copy 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6198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3200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Crontab entry</a:t>
            </a:r>
          </a:p>
        </p:txBody>
      </p:sp>
      <p:pic>
        <p:nvPicPr>
          <p:cNvPr id="18" name="Picture 17" descr="image copy 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657600"/>
            <a:ext cx="5303520" cy="14639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0" y="5760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Delete + Recovery berhasil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Monitoring Sistem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5A8"/>
                </a:solidFill>
                <a:latin typeface="Calibri"/>
              </a:defRPr>
            </a:pPr>
            <a:r>
              <a:t>Stress Test: CPU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Tools: htop, sysstat, stress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68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Perintah: stress --cpu 2 --timeout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Hasil Analisis: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- CPU: 100% pada kedua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- Load avg: 0.08 -&gt; 0.66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754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- RAM: stabil 194MB/1.9GB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212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- Recovery: normal dalam detik</a:t>
            </a:r>
          </a:p>
        </p:txBody>
      </p:sp>
      <p:pic>
        <p:nvPicPr>
          <p:cNvPr id="16" name="Picture 15" descr="image copy 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864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Update &amp; Keamanan (Firewall)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Sistem di-update: apt update &amp;&amp; apt upgrade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Firewall UFW - Rules: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22/tcp (SSH)     -&gt; ALLOW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Samba            -&gt; 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86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23/tcp (Telnet)  -&gt; DENY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89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Telnet ditutup: protokol plaintext, tidak aman</a:t>
            </a:r>
          </a:p>
        </p:txBody>
      </p:sp>
      <p:pic>
        <p:nvPicPr>
          <p:cNvPr id="15" name="Picture 14" descr="image copy 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029200" cy="14937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apt update</a:t>
            </a:r>
          </a:p>
        </p:txBody>
      </p:sp>
      <p:pic>
        <p:nvPicPr>
          <p:cNvPr id="17" name="Picture 16" descr="image copy 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40480"/>
            <a:ext cx="4114800" cy="216519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0" y="6126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ufw status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Layanan Tambahan: Samba File Sharing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Opsi B: File Sharing (Samba)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Share: /data/share -&gt; PraktikumShare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Autentikasi: user-level (adminuser)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Akses Windows: \\192.168.56.101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9728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Pengujian: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- File dibuat dari 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- Terbaca di server Linux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- File sharing dua arah berhasil</a:t>
            </a:r>
          </a:p>
        </p:txBody>
      </p:sp>
      <p:pic>
        <p:nvPicPr>
          <p:cNvPr id="16" name="Picture 15" descr="image copy 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029200" cy="272902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114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B9B9B"/>
                </a:solidFill>
                <a:latin typeface="Calibri"/>
              </a:defRPr>
            </a:pPr>
            <a:r>
              <a:t>Windows Explorer -&gt; PraktikumShare</a:t>
            </a:r>
          </a:p>
        </p:txBody>
      </p:sp>
      <p:pic>
        <p:nvPicPr>
          <p:cNvPr id="18" name="Picture 17" descr="image copy 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72000"/>
            <a:ext cx="5029200" cy="8251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Masalah &amp; Solusi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463040"/>
            <a:ext cx="4846320" cy="82296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51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Timezone UTC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4846320" cy="822960"/>
          </a:xfrm>
          <a:prstGeom prst="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51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ECB71"/>
                </a:solidFill>
                <a:latin typeface="Calibri"/>
              </a:defRPr>
            </a:pPr>
            <a:r>
              <a:t>timedatectl set-timezone Asia/Jakarta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51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7F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560320"/>
            <a:ext cx="4846320" cy="82296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610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Samba auth ditolak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560320"/>
            <a:ext cx="4846320" cy="822960"/>
          </a:xfrm>
          <a:prstGeom prst="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610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ECB71"/>
                </a:solidFill>
                <a:latin typeface="Calibri"/>
              </a:defRPr>
            </a:pPr>
            <a:r>
              <a:t>smbpasswd -a adminuser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610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7F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657600"/>
            <a:ext cx="4846320" cy="82296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707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multipathd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657600"/>
            <a:ext cx="4846320" cy="822960"/>
          </a:xfrm>
          <a:prstGeom prst="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707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ECB71"/>
                </a:solidFill>
                <a:latin typeface="Calibri"/>
              </a:defRPr>
            </a:pPr>
            <a:r>
              <a:t>systemctl disable --now multipathd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70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7F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754880"/>
            <a:ext cx="4846320" cy="82296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804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/backup belum ada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754880"/>
            <a:ext cx="4846320" cy="822960"/>
          </a:xfrm>
          <a:prstGeom prst="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804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ECB71"/>
                </a:solidFill>
                <a:latin typeface="Calibri"/>
              </a:defRPr>
            </a:pPr>
            <a:r>
              <a:t>Buat directory secara 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804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B7F"/>
                </a:solidFill>
                <a:latin typeface="Calibri"/>
              </a:defRPr>
            </a:pPr>
            <a:r>
              <a:t>-&gt;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1234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B9B9B"/>
                </a:solidFill>
                <a:latin typeface="Calibri"/>
              </a:defRPr>
            </a:pPr>
            <a:r>
              <a:t>MASALAH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234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B9B9B"/>
                </a:solidFill>
                <a:latin typeface="Calibri"/>
              </a:defRPr>
            </a:pPr>
            <a:r>
              <a:t>SOLUSI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2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Kesimpulan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Praktikum PATI | Mini Server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105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463040"/>
            <a:ext cx="457200" cy="45720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8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8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Boot &amp; service management teridentifikasi dan terkonfigurasi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94560"/>
            <a:ext cx="457200" cy="45720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1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214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Arsitektur 2-disk dengan partisi sistem dan data terpisah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926080"/>
            <a:ext cx="457200" cy="45720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946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946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Backup rsync + cron dan recovery berhasil dibuktikan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657600"/>
            <a:ext cx="457200" cy="45720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67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677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Monitoring CPU via htop + stress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389120"/>
            <a:ext cx="457200" cy="45720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40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0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Firewall UFW aktif, Telnet diblokir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120640"/>
            <a:ext cx="457200" cy="457200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140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14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Samba file sharing berfungsi lintas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49A2A"/>
                </a:solidFill>
                <a:latin typeface="Calibri"/>
              </a:defRPr>
            </a:pPr>
            <a:r>
              <a:t>Seluruh konfigurasi dilakukan secara manual - sepenuhnya terdokumentasi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A5A8"/>
                </a:solidFill>
                <a:latin typeface="Calibri"/>
              </a:defRPr>
            </a:pPr>
            <a:r>
              <a:t>Sesi Tanya Jawab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389120"/>
            <a:ext cx="2103120" cy="36576"/>
          </a:xfrm>
          <a:prstGeom prst="rect">
            <a:avLst/>
          </a:prstGeom>
          <a:solidFill>
            <a:srgbClr val="C49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B9B9B"/>
                </a:solidFill>
                <a:latin typeface="Calibri"/>
              </a:defRPr>
            </a:pPr>
            <a:r>
              <a:t>Kelompok [Nomor] | Praktikum PATI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